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redRisk.AI hero image" descr="CredRisk.AI hero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 overlay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43F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" name="eyebrow"/>
          <p:cNvSpPr txBox="1"/>
          <p:nvPr/>
        </p:nvSpPr>
        <p:spPr>
          <a:xfrm>
            <a:off x="552450" y="742950"/>
            <a:ext cx="476250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00" b="1" dirty="0">
                <a:solidFill>
                  <a:srgbClr val="FFFFFF"/>
                </a:solidFill>
                <a:latin typeface="Aptos"/>
              </a:rPr>
              <a:t>INVESTOR PITCH AND LIVE DEMO BRIDGE</a:t>
            </a:r>
            <a:endParaRPr lang="en-US" sz="1200" dirty="0"/>
          </a:p>
        </p:txBody>
      </p:sp>
      <p:sp>
        <p:nvSpPr>
          <p:cNvPr id="11" name="title"/>
          <p:cNvSpPr txBox="1"/>
          <p:nvPr/>
        </p:nvSpPr>
        <p:spPr>
          <a:xfrm>
            <a:off x="552450" y="1257300"/>
            <a:ext cx="609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5500" b="1" dirty="0">
                <a:solidFill>
                  <a:srgbClr val="FFFFFF"/>
                </a:solidFill>
                <a:latin typeface="Aptos"/>
              </a:rPr>
              <a:t>CredRisk.AI</a:t>
            </a:r>
            <a:endParaRPr lang="en-US" sz="5500" dirty="0"/>
          </a:p>
        </p:txBody>
      </p:sp>
      <p:sp>
        <p:nvSpPr>
          <p:cNvPr id="12" name="subtitle"/>
          <p:cNvSpPr txBox="1"/>
          <p:nvPr/>
        </p:nvSpPr>
        <p:spPr>
          <a:xfrm>
            <a:off x="552450" y="2343150"/>
            <a:ext cx="5810250" cy="7810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2000" dirty="0">
                <a:solidFill>
                  <a:srgbClr val="FFFFFF"/>
                </a:solidFill>
                <a:latin typeface="Aptos"/>
              </a:rPr>
              <a:t>A Loan Intake Portal and underwriter workbench for the full SME to analyst to SME credit journey.</a:t>
            </a:r>
            <a:endParaRPr lang="en-US" sz="2000" dirty="0"/>
          </a:p>
        </p:txBody>
      </p:sp>
      <p:sp>
        <p:nvSpPr>
          <p:cNvPr id="100" name="hero stat card"/>
          <p:cNvSpPr/>
          <p:nvPr/>
        </p:nvSpPr>
        <p:spPr>
          <a:xfrm>
            <a:off x="7319149" y="1685175"/>
            <a:ext cx="4000500" cy="112395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1" name="hero stat"/>
          <p:cNvSpPr txBox="1"/>
          <p:nvPr/>
        </p:nvSpPr>
        <p:spPr>
          <a:xfrm>
            <a:off x="7547749" y="1856625"/>
            <a:ext cx="933450" cy="514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3100" b="1" dirty="0">
                <a:solidFill>
                  <a:srgbClr val="0E8F8F"/>
                </a:solidFill>
                <a:latin typeface="Aptos"/>
              </a:rPr>
              <a:t>SME</a:t>
            </a:r>
            <a:endParaRPr lang="en-US" sz="3100" dirty="0"/>
          </a:p>
        </p:txBody>
      </p:sp>
      <p:sp>
        <p:nvSpPr>
          <p:cNvPr id="102" name="hero stat body"/>
          <p:cNvSpPr txBox="1"/>
          <p:nvPr/>
        </p:nvSpPr>
        <p:spPr>
          <a:xfrm>
            <a:off x="8481199" y="1875675"/>
            <a:ext cx="2552700" cy="7048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300" dirty="0">
                <a:solidFill>
                  <a:srgbClr val="10243F"/>
                </a:solidFill>
                <a:latin typeface="Aptos"/>
              </a:rPr>
              <a:t>Detailed application, five-year plan, and evidence upload start on the applicant side.</a:t>
            </a:r>
            <a:endParaRPr lang="en-US" sz="1300" dirty="0"/>
          </a:p>
        </p:txBody>
      </p:sp>
      <p:sp>
        <p:nvSpPr>
          <p:cNvPr id="110" name="hero stat card"/>
          <p:cNvSpPr/>
          <p:nvPr/>
        </p:nvSpPr>
        <p:spPr>
          <a:xfrm>
            <a:off x="7319149" y="3056775"/>
            <a:ext cx="4000500" cy="112395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1" name="hero stat"/>
          <p:cNvSpPr txBox="1"/>
          <p:nvPr/>
        </p:nvSpPr>
        <p:spPr>
          <a:xfrm>
            <a:off x="7547749" y="3228225"/>
            <a:ext cx="819150" cy="514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3100" b="1" dirty="0">
                <a:solidFill>
                  <a:srgbClr val="0E8F8F"/>
                </a:solidFill>
                <a:latin typeface="Aptos"/>
              </a:rPr>
              <a:t>RF</a:t>
            </a:r>
            <a:endParaRPr lang="en-US" sz="3100" dirty="0"/>
          </a:p>
        </p:txBody>
      </p:sp>
      <p:sp>
        <p:nvSpPr>
          <p:cNvPr id="112" name="hero stat body"/>
          <p:cNvSpPr txBox="1"/>
          <p:nvPr/>
        </p:nvSpPr>
        <p:spPr>
          <a:xfrm>
            <a:off x="8481199" y="3247275"/>
            <a:ext cx="2552700" cy="7048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300" dirty="0">
                <a:solidFill>
                  <a:srgbClr val="10243F"/>
                </a:solidFill>
                <a:latin typeface="Aptos"/>
              </a:rPr>
              <a:t>One governed Random Forest baseline produces the 0-1 application risk score.</a:t>
            </a:r>
            <a:endParaRPr lang="en-US" sz="1300" dirty="0"/>
          </a:p>
        </p:txBody>
      </p:sp>
      <p:sp>
        <p:nvSpPr>
          <p:cNvPr id="120" name="hero stat card"/>
          <p:cNvSpPr/>
          <p:nvPr/>
        </p:nvSpPr>
        <p:spPr>
          <a:xfrm>
            <a:off x="7319149" y="4428375"/>
            <a:ext cx="4000500" cy="1123950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21" name="hero stat"/>
          <p:cNvSpPr txBox="1"/>
          <p:nvPr/>
        </p:nvSpPr>
        <p:spPr>
          <a:xfrm>
            <a:off x="7547749" y="4599825"/>
            <a:ext cx="819150" cy="514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3100" b="1" dirty="0">
                <a:solidFill>
                  <a:srgbClr val="0E8F8F"/>
                </a:solidFill>
                <a:latin typeface="Aptos"/>
              </a:rPr>
              <a:t>A-F</a:t>
            </a:r>
            <a:endParaRPr lang="en-US" sz="3100" dirty="0"/>
          </a:p>
        </p:txBody>
      </p:sp>
      <p:sp>
        <p:nvSpPr>
          <p:cNvPr id="122" name="hero stat body"/>
          <p:cNvSpPr txBox="1"/>
          <p:nvPr/>
        </p:nvSpPr>
        <p:spPr>
          <a:xfrm>
            <a:off x="8481199" y="4618875"/>
            <a:ext cx="2552700" cy="7048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300" dirty="0">
                <a:solidFill>
                  <a:srgbClr val="10243F"/>
                </a:solidFill>
                <a:latin typeface="Aptos"/>
              </a:rPr>
              <a:t>Analysts publish a reviewed rating and applicant-safe report back to the SME.</a:t>
            </a:r>
            <a:endParaRPr lang="en-US" sz="1300" dirty="0"/>
          </a:p>
        </p:txBody>
      </p:sp>
      <p:sp>
        <p:nvSpPr>
          <p:cNvPr id="900" name="footer line"/>
          <p:cNvSpPr/>
          <p:nvPr/>
        </p:nvSpPr>
        <p:spPr>
          <a:xfrm>
            <a:off x="552450" y="6191250"/>
            <a:ext cx="11087100" cy="11430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01" name="footer left"/>
          <p:cNvSpPr txBox="1"/>
          <p:nvPr/>
        </p:nvSpPr>
        <p:spPr>
          <a:xfrm>
            <a:off x="55245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FFFFFF"/>
                </a:solidFill>
                <a:latin typeface="Aptos"/>
              </a:rPr>
              <a:t>CredRisk.AI Underwriter Workbench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r"/>
            <a:r>
              <a:rPr lang="en-US" sz="1050" dirty="0">
                <a:solidFill>
                  <a:srgbClr val="FFFFFF"/>
                </a:solidFill>
                <a:latin typeface="Aptos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00" b="1" dirty="0">
                <a:solidFill>
                  <a:srgbClr val="0E8F8F"/>
                </a:solidFill>
                <a:latin typeface="Aptos"/>
              </a:rPr>
              <a:t>THE PROBLEM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2900" b="1" dirty="0">
                <a:solidFill>
                  <a:srgbClr val="10243F"/>
                </a:solidFill>
                <a:latin typeface="Aptos"/>
              </a:rPr>
              <a:t>SME underwriting breaks when intake, evidence, scoring, and publication sit in separate tools.</a:t>
            </a:r>
            <a:endParaRPr lang="en-US" sz="2900" dirty="0"/>
          </a:p>
        </p:txBody>
      </p:sp>
      <p:sp>
        <p:nvSpPr>
          <p:cNvPr id="30" name="callout"/>
          <p:cNvSpPr/>
          <p:nvPr/>
        </p:nvSpPr>
        <p:spPr>
          <a:xfrm>
            <a:off x="533400" y="2076450"/>
            <a:ext cx="4629150" cy="3000375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31" name="callout title"/>
          <p:cNvSpPr txBox="1"/>
          <p:nvPr/>
        </p:nvSpPr>
        <p:spPr>
          <a:xfrm>
            <a:off x="781050" y="2381250"/>
            <a:ext cx="4057650" cy="8572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2400" b="1" dirty="0">
                <a:solidFill>
                  <a:srgbClr val="FFFFFF"/>
                </a:solidFill>
                <a:latin typeface="Aptos"/>
              </a:rPr>
              <a:t>The bank needs speed, but cannot lose traceability.</a:t>
            </a:r>
            <a:endParaRPr lang="en-US" sz="2400" dirty="0"/>
          </a:p>
        </p:txBody>
      </p:sp>
      <p:sp>
        <p:nvSpPr>
          <p:cNvPr id="32" name="callout body"/>
          <p:cNvSpPr txBox="1"/>
          <p:nvPr/>
        </p:nvSpPr>
        <p:spPr>
          <a:xfrm>
            <a:off x="781050" y="3486150"/>
            <a:ext cx="3981450" cy="11620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500" dirty="0">
                <a:solidFill>
                  <a:srgbClr val="FFFFFF"/>
                </a:solidFill>
                <a:latin typeface="Aptos"/>
              </a:rPr>
              <a:t>Applicant inputs, uploaded evidence, fraud signals, AI output, model grades, and human decisions must remain connected without letting automation make the final call.</a:t>
            </a:r>
            <a:endParaRPr lang="en-US" sz="1500" dirty="0"/>
          </a:p>
        </p:txBody>
      </p:sp>
      <p:sp>
        <p:nvSpPr>
          <p:cNvPr id="60" name="Incomplete intake card"/>
          <p:cNvSpPr/>
          <p:nvPr/>
        </p:nvSpPr>
        <p:spPr>
          <a:xfrm>
            <a:off x="5619750" y="1952625"/>
            <a:ext cx="5619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61" name="Incomplete intake accent"/>
          <p:cNvSpPr/>
          <p:nvPr/>
        </p:nvSpPr>
        <p:spPr>
          <a:xfrm>
            <a:off x="5619750" y="1952625"/>
            <a:ext cx="57150" cy="952500"/>
          </a:xfrm>
          <a:prstGeom prst="rect">
            <a:avLst/>
          </a:prstGeom>
          <a:solidFill>
            <a:srgbClr val="0E8F8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62" name="Incomplete intake title"/>
          <p:cNvSpPr txBox="1"/>
          <p:nvPr/>
        </p:nvSpPr>
        <p:spPr>
          <a:xfrm>
            <a:off x="5810250" y="2105025"/>
            <a:ext cx="529590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Incomplete intake</a:t>
            </a:r>
            <a:endParaRPr lang="en-US" sz="1700" dirty="0"/>
          </a:p>
        </p:txBody>
      </p:sp>
      <p:sp>
        <p:nvSpPr>
          <p:cNvPr id="63" name="Incomplete intake body"/>
          <p:cNvSpPr txBox="1"/>
          <p:nvPr/>
        </p:nvSpPr>
        <p:spPr>
          <a:xfrm>
            <a:off x="5810250" y="2428875"/>
            <a:ext cx="5295900" cy="361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SMEs need one place to enter company context, financials, loan purpose, and the five-year plan.</a:t>
            </a:r>
            <a:endParaRPr lang="en-US" sz="1250" dirty="0"/>
          </a:p>
        </p:txBody>
      </p:sp>
      <p:sp>
        <p:nvSpPr>
          <p:cNvPr id="70" name="Evidence friction card"/>
          <p:cNvSpPr/>
          <p:nvPr/>
        </p:nvSpPr>
        <p:spPr>
          <a:xfrm>
            <a:off x="5619750" y="3076575"/>
            <a:ext cx="5619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71" name="Evidence friction accent"/>
          <p:cNvSpPr/>
          <p:nvPr/>
        </p:nvSpPr>
        <p:spPr>
          <a:xfrm>
            <a:off x="5619750" y="3076575"/>
            <a:ext cx="57150" cy="952500"/>
          </a:xfrm>
          <a:prstGeom prst="rect">
            <a:avLst/>
          </a:prstGeom>
          <a:solidFill>
            <a:srgbClr val="285F9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72" name="Evidence friction title"/>
          <p:cNvSpPr txBox="1"/>
          <p:nvPr/>
        </p:nvSpPr>
        <p:spPr>
          <a:xfrm>
            <a:off x="5810250" y="3228975"/>
            <a:ext cx="529590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Evidence friction</a:t>
            </a:r>
            <a:endParaRPr lang="en-US" sz="1700" dirty="0"/>
          </a:p>
        </p:txBody>
      </p:sp>
      <p:sp>
        <p:nvSpPr>
          <p:cNvPr id="73" name="Evidence friction body"/>
          <p:cNvSpPr txBox="1"/>
          <p:nvPr/>
        </p:nvSpPr>
        <p:spPr>
          <a:xfrm>
            <a:off x="5810250" y="3552825"/>
            <a:ext cx="5295900" cy="361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Missing, ambiguous, risky, clean, and fraudulent document cases should be visible before review.</a:t>
            </a:r>
            <a:endParaRPr lang="en-US" sz="1250" dirty="0"/>
          </a:p>
        </p:txBody>
      </p:sp>
      <p:sp>
        <p:nvSpPr>
          <p:cNvPr id="80" name="Governance risk card"/>
          <p:cNvSpPr/>
          <p:nvPr/>
        </p:nvSpPr>
        <p:spPr>
          <a:xfrm>
            <a:off x="5619750" y="4200525"/>
            <a:ext cx="561975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81" name="Governance risk accent"/>
          <p:cNvSpPr/>
          <p:nvPr/>
        </p:nvSpPr>
        <p:spPr>
          <a:xfrm>
            <a:off x="5619750" y="4200525"/>
            <a:ext cx="57150" cy="952500"/>
          </a:xfrm>
          <a:prstGeom prst="rect">
            <a:avLst/>
          </a:prstGeom>
          <a:solidFill>
            <a:srgbClr val="A54355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82" name="Governance risk title"/>
          <p:cNvSpPr txBox="1"/>
          <p:nvPr/>
        </p:nvSpPr>
        <p:spPr>
          <a:xfrm>
            <a:off x="5810250" y="4352925"/>
            <a:ext cx="529590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Governance risk</a:t>
            </a:r>
            <a:endParaRPr lang="en-US" sz="1700" dirty="0"/>
          </a:p>
        </p:txBody>
      </p:sp>
      <p:sp>
        <p:nvSpPr>
          <p:cNvPr id="83" name="Governance risk body"/>
          <p:cNvSpPr txBox="1"/>
          <p:nvPr/>
        </p:nvSpPr>
        <p:spPr>
          <a:xfrm>
            <a:off x="5810250" y="4676775"/>
            <a:ext cx="5295900" cy="361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Model score, AI advice, analyst rating, and SME-facing publication need separate controls.</a:t>
            </a:r>
            <a:endParaRPr lang="en-US" sz="12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667085"/>
                </a:solidFill>
                <a:latin typeface="Aptos"/>
              </a:rPr>
              <a:t>Problem worth solving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00" b="1" dirty="0">
                <a:solidFill>
                  <a:srgbClr val="0E8F8F"/>
                </a:solidFill>
                <a:latin typeface="Aptos"/>
              </a:rPr>
              <a:t>THE SOLUTION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2900" b="1" dirty="0">
                <a:solidFill>
                  <a:srgbClr val="10243F"/>
                </a:solidFill>
                <a:latin typeface="Aptos"/>
              </a:rPr>
              <a:t>CredRisk.AI turns the loan file into a controlled end-to-end workflow.</a:t>
            </a:r>
            <a:endParaRPr lang="en-US" sz="2900" dirty="0"/>
          </a:p>
        </p:txBody>
      </p:sp>
      <p:sp>
        <p:nvSpPr>
          <p:cNvPr id="60" name="metric card"/>
          <p:cNvSpPr/>
          <p:nvPr/>
        </p:nvSpPr>
        <p:spPr>
          <a:xfrm>
            <a:off x="533400" y="1952625"/>
            <a:ext cx="266700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61" name="metric number"/>
          <p:cNvSpPr txBox="1"/>
          <p:nvPr/>
        </p:nvSpPr>
        <p:spPr>
          <a:xfrm>
            <a:off x="704850" y="2162175"/>
            <a:ext cx="552450" cy="552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400" b="1" dirty="0">
                <a:solidFill>
                  <a:srgbClr val="0E8F8F"/>
                </a:solidFill>
                <a:latin typeface="Aptos"/>
              </a:rPr>
              <a:t>1</a:t>
            </a:r>
            <a:endParaRPr lang="en-US" sz="3400" dirty="0"/>
          </a:p>
        </p:txBody>
      </p:sp>
      <p:sp>
        <p:nvSpPr>
          <p:cNvPr id="62" name="metric title"/>
          <p:cNvSpPr txBox="1"/>
          <p:nvPr/>
        </p:nvSpPr>
        <p:spPr>
          <a:xfrm>
            <a:off x="762000" y="2828925"/>
            <a:ext cx="2209800" cy="3238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800" b="1" dirty="0">
                <a:solidFill>
                  <a:srgbClr val="10243F"/>
                </a:solidFill>
                <a:latin typeface="Aptos"/>
              </a:rPr>
              <a:t>Intake</a:t>
            </a:r>
            <a:endParaRPr lang="en-US" sz="1800" dirty="0"/>
          </a:p>
        </p:txBody>
      </p:sp>
      <p:sp>
        <p:nvSpPr>
          <p:cNvPr id="63" name="metric body"/>
          <p:cNvSpPr txBox="1"/>
          <p:nvPr/>
        </p:nvSpPr>
        <p:spPr>
          <a:xfrm>
            <a:off x="762000" y="3248025"/>
            <a:ext cx="2209800" cy="1009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The SME logs in with DemoUser, uses SME SSO, fills the detailed Loan Intake Portal, and submits evidence.</a:t>
            </a:r>
            <a:endParaRPr lang="en-US" sz="1250" dirty="0"/>
          </a:p>
        </p:txBody>
      </p:sp>
      <p:sp>
        <p:nvSpPr>
          <p:cNvPr id="70" name="metric card"/>
          <p:cNvSpPr/>
          <p:nvPr/>
        </p:nvSpPr>
        <p:spPr>
          <a:xfrm>
            <a:off x="3333750" y="1952625"/>
            <a:ext cx="266700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71" name="metric number"/>
          <p:cNvSpPr txBox="1"/>
          <p:nvPr/>
        </p:nvSpPr>
        <p:spPr>
          <a:xfrm>
            <a:off x="3505200" y="2162175"/>
            <a:ext cx="552450" cy="552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400" b="1" dirty="0">
                <a:solidFill>
                  <a:srgbClr val="0E8F8F"/>
                </a:solidFill>
                <a:latin typeface="Aptos"/>
              </a:rPr>
              <a:t>2</a:t>
            </a:r>
            <a:endParaRPr lang="en-US" sz="3400" dirty="0"/>
          </a:p>
        </p:txBody>
      </p:sp>
      <p:sp>
        <p:nvSpPr>
          <p:cNvPr id="72" name="metric title"/>
          <p:cNvSpPr txBox="1"/>
          <p:nvPr/>
        </p:nvSpPr>
        <p:spPr>
          <a:xfrm>
            <a:off x="3562350" y="2828925"/>
            <a:ext cx="2209800" cy="3238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800" b="1" dirty="0">
                <a:solidFill>
                  <a:srgbClr val="10243F"/>
                </a:solidFill>
                <a:latin typeface="Aptos"/>
              </a:rPr>
              <a:t>Score</a:t>
            </a:r>
            <a:endParaRPr lang="en-US" sz="1800" dirty="0"/>
          </a:p>
        </p:txBody>
      </p:sp>
      <p:sp>
        <p:nvSpPr>
          <p:cNvPr id="73" name="metric body"/>
          <p:cNvSpPr txBox="1"/>
          <p:nvPr/>
        </p:nvSpPr>
        <p:spPr>
          <a:xfrm>
            <a:off x="3562350" y="3248025"/>
            <a:ext cx="2209800" cy="1009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The lender opens a frozen snapshot and applies the single Random Forest risk model.</a:t>
            </a:r>
            <a:endParaRPr lang="en-US" sz="1250" dirty="0"/>
          </a:p>
        </p:txBody>
      </p:sp>
      <p:sp>
        <p:nvSpPr>
          <p:cNvPr id="80" name="metric card"/>
          <p:cNvSpPr/>
          <p:nvPr/>
        </p:nvSpPr>
        <p:spPr>
          <a:xfrm>
            <a:off x="6134100" y="1952625"/>
            <a:ext cx="266700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81" name="metric number"/>
          <p:cNvSpPr txBox="1"/>
          <p:nvPr/>
        </p:nvSpPr>
        <p:spPr>
          <a:xfrm>
            <a:off x="6305550" y="2162175"/>
            <a:ext cx="552450" cy="552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400" b="1" dirty="0">
                <a:solidFill>
                  <a:srgbClr val="0E8F8F"/>
                </a:solidFill>
                <a:latin typeface="Aptos"/>
              </a:rPr>
              <a:t>3</a:t>
            </a:r>
            <a:endParaRPr lang="en-US" sz="3400" dirty="0"/>
          </a:p>
        </p:txBody>
      </p:sp>
      <p:sp>
        <p:nvSpPr>
          <p:cNvPr id="82" name="metric title"/>
          <p:cNvSpPr txBox="1"/>
          <p:nvPr/>
        </p:nvSpPr>
        <p:spPr>
          <a:xfrm>
            <a:off x="6362700" y="2828925"/>
            <a:ext cx="2209800" cy="3238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800" b="1" dirty="0">
                <a:solidFill>
                  <a:srgbClr val="10243F"/>
                </a:solidFill>
                <a:latin typeface="Aptos"/>
              </a:rPr>
              <a:t>Review</a:t>
            </a:r>
            <a:endParaRPr lang="en-US" sz="1800" dirty="0"/>
          </a:p>
        </p:txBody>
      </p:sp>
      <p:sp>
        <p:nvSpPr>
          <p:cNvPr id="83" name="metric body"/>
          <p:cNvSpPr txBox="1"/>
          <p:nvPr/>
        </p:nvSpPr>
        <p:spPr>
          <a:xfrm>
            <a:off x="6362700" y="3248025"/>
            <a:ext cx="2209800" cy="1009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Case Review is gated behind AI Output, so the analyst sees the generated package first.</a:t>
            </a:r>
            <a:endParaRPr lang="en-US" sz="1250" dirty="0"/>
          </a:p>
        </p:txBody>
      </p:sp>
      <p:sp>
        <p:nvSpPr>
          <p:cNvPr id="90" name="metric card"/>
          <p:cNvSpPr/>
          <p:nvPr/>
        </p:nvSpPr>
        <p:spPr>
          <a:xfrm>
            <a:off x="8934450" y="1952625"/>
            <a:ext cx="2667000" cy="26193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91" name="metric number"/>
          <p:cNvSpPr txBox="1"/>
          <p:nvPr/>
        </p:nvSpPr>
        <p:spPr>
          <a:xfrm>
            <a:off x="9105900" y="2162175"/>
            <a:ext cx="552450" cy="552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400" b="1" dirty="0">
                <a:solidFill>
                  <a:srgbClr val="0E8F8F"/>
                </a:solidFill>
                <a:latin typeface="Aptos"/>
              </a:rPr>
              <a:t>4</a:t>
            </a:r>
            <a:endParaRPr lang="en-US" sz="3400" dirty="0"/>
          </a:p>
        </p:txBody>
      </p:sp>
      <p:sp>
        <p:nvSpPr>
          <p:cNvPr id="92" name="metric title"/>
          <p:cNvSpPr txBox="1"/>
          <p:nvPr/>
        </p:nvSpPr>
        <p:spPr>
          <a:xfrm>
            <a:off x="9163050" y="2828925"/>
            <a:ext cx="2209800" cy="3238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800" b="1" dirty="0">
                <a:solidFill>
                  <a:srgbClr val="10243F"/>
                </a:solidFill>
                <a:latin typeface="Aptos"/>
              </a:rPr>
              <a:t>Publish</a:t>
            </a:r>
            <a:endParaRPr lang="en-US" sz="1800" dirty="0"/>
          </a:p>
        </p:txBody>
      </p:sp>
      <p:sp>
        <p:nvSpPr>
          <p:cNvPr id="93" name="metric body"/>
          <p:cNvSpPr txBox="1"/>
          <p:nvPr/>
        </p:nvSpPr>
        <p:spPr>
          <a:xfrm>
            <a:off x="9163050" y="3248025"/>
            <a:ext cx="2209800" cy="1009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The SME receives only the lender-approved rating, message, and applicant-safe report.</a:t>
            </a:r>
            <a:endParaRPr lang="en-US" sz="1250" dirty="0"/>
          </a:p>
        </p:txBody>
      </p:sp>
      <p:sp>
        <p:nvSpPr>
          <p:cNvPr id="200" name="grade A"/>
          <p:cNvSpPr/>
          <p:nvPr/>
        </p:nvSpPr>
        <p:spPr>
          <a:xfrm>
            <a:off x="53340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201" name="grade A letter"/>
          <p:cNvSpPr txBox="1"/>
          <p:nvPr/>
        </p:nvSpPr>
        <p:spPr>
          <a:xfrm>
            <a:off x="66675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200" b="1" dirty="0">
                <a:solidFill>
                  <a:srgbClr val="4F8F3A"/>
                </a:solidFill>
                <a:latin typeface="Aptos"/>
              </a:rPr>
              <a:t>A</a:t>
            </a:r>
            <a:endParaRPr lang="en-US" sz="3200" dirty="0"/>
          </a:p>
        </p:txBody>
      </p:sp>
      <p:sp>
        <p:nvSpPr>
          <p:cNvPr id="202" name="grade A text"/>
          <p:cNvSpPr txBox="1"/>
          <p:nvPr/>
        </p:nvSpPr>
        <p:spPr>
          <a:xfrm>
            <a:off x="112395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Below 0.15</a:t>
            </a:r>
            <a:endParaRPr lang="en-US" sz="1050" dirty="0"/>
          </a:p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Approve</a:t>
            </a:r>
            <a:endParaRPr lang="en-US" sz="1050" dirty="0"/>
          </a:p>
        </p:txBody>
      </p:sp>
      <p:sp>
        <p:nvSpPr>
          <p:cNvPr id="204" name="grade B"/>
          <p:cNvSpPr/>
          <p:nvPr/>
        </p:nvSpPr>
        <p:spPr>
          <a:xfrm>
            <a:off x="238125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205" name="grade B letter"/>
          <p:cNvSpPr txBox="1"/>
          <p:nvPr/>
        </p:nvSpPr>
        <p:spPr>
          <a:xfrm>
            <a:off x="251460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200" b="1" dirty="0">
                <a:solidFill>
                  <a:srgbClr val="4F8F3A"/>
                </a:solidFill>
                <a:latin typeface="Aptos"/>
              </a:rPr>
              <a:t>B</a:t>
            </a:r>
            <a:endParaRPr lang="en-US" sz="3200" dirty="0"/>
          </a:p>
        </p:txBody>
      </p:sp>
      <p:sp>
        <p:nvSpPr>
          <p:cNvPr id="206" name="grade B text"/>
          <p:cNvSpPr txBox="1"/>
          <p:nvPr/>
        </p:nvSpPr>
        <p:spPr>
          <a:xfrm>
            <a:off x="297180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0.15 to 0.28</a:t>
            </a:r>
            <a:endParaRPr lang="en-US" sz="1050" dirty="0"/>
          </a:p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Approve</a:t>
            </a:r>
            <a:endParaRPr lang="en-US" sz="1050" dirty="0"/>
          </a:p>
        </p:txBody>
      </p:sp>
      <p:sp>
        <p:nvSpPr>
          <p:cNvPr id="208" name="grade C"/>
          <p:cNvSpPr/>
          <p:nvPr/>
        </p:nvSpPr>
        <p:spPr>
          <a:xfrm>
            <a:off x="422910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209" name="grade C letter"/>
          <p:cNvSpPr txBox="1"/>
          <p:nvPr/>
        </p:nvSpPr>
        <p:spPr>
          <a:xfrm>
            <a:off x="436245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200" b="1" dirty="0">
                <a:solidFill>
                  <a:srgbClr val="B7761F"/>
                </a:solidFill>
                <a:latin typeface="Aptos"/>
              </a:rPr>
              <a:t>C</a:t>
            </a:r>
            <a:endParaRPr lang="en-US" sz="3200" dirty="0"/>
          </a:p>
        </p:txBody>
      </p:sp>
      <p:sp>
        <p:nvSpPr>
          <p:cNvPr id="210" name="grade C text"/>
          <p:cNvSpPr txBox="1"/>
          <p:nvPr/>
        </p:nvSpPr>
        <p:spPr>
          <a:xfrm>
            <a:off x="481965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0.28 to 0.42</a:t>
            </a:r>
            <a:endParaRPr lang="en-US" sz="1050" dirty="0"/>
          </a:p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Manual review</a:t>
            </a:r>
            <a:endParaRPr lang="en-US" sz="1050" dirty="0"/>
          </a:p>
        </p:txBody>
      </p:sp>
      <p:sp>
        <p:nvSpPr>
          <p:cNvPr id="212" name="grade D"/>
          <p:cNvSpPr/>
          <p:nvPr/>
        </p:nvSpPr>
        <p:spPr>
          <a:xfrm>
            <a:off x="607695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213" name="grade D letter"/>
          <p:cNvSpPr txBox="1"/>
          <p:nvPr/>
        </p:nvSpPr>
        <p:spPr>
          <a:xfrm>
            <a:off x="621030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200" b="1" dirty="0">
                <a:solidFill>
                  <a:srgbClr val="B7761F"/>
                </a:solidFill>
                <a:latin typeface="Aptos"/>
              </a:rPr>
              <a:t>D</a:t>
            </a:r>
            <a:endParaRPr lang="en-US" sz="3200" dirty="0"/>
          </a:p>
        </p:txBody>
      </p:sp>
      <p:sp>
        <p:nvSpPr>
          <p:cNvPr id="214" name="grade D text"/>
          <p:cNvSpPr txBox="1"/>
          <p:nvPr/>
        </p:nvSpPr>
        <p:spPr>
          <a:xfrm>
            <a:off x="666750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0.42 to 0.58</a:t>
            </a:r>
            <a:endParaRPr lang="en-US" sz="1050" dirty="0"/>
          </a:p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Manual review</a:t>
            </a:r>
            <a:endParaRPr lang="en-US" sz="1050" dirty="0"/>
          </a:p>
        </p:txBody>
      </p:sp>
      <p:sp>
        <p:nvSpPr>
          <p:cNvPr id="216" name="grade E"/>
          <p:cNvSpPr/>
          <p:nvPr/>
        </p:nvSpPr>
        <p:spPr>
          <a:xfrm>
            <a:off x="792480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217" name="grade E letter"/>
          <p:cNvSpPr txBox="1"/>
          <p:nvPr/>
        </p:nvSpPr>
        <p:spPr>
          <a:xfrm>
            <a:off x="805815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200" b="1" dirty="0">
                <a:solidFill>
                  <a:srgbClr val="A54355"/>
                </a:solidFill>
                <a:latin typeface="Aptos"/>
              </a:rPr>
              <a:t>E</a:t>
            </a:r>
            <a:endParaRPr lang="en-US" sz="3200" dirty="0"/>
          </a:p>
        </p:txBody>
      </p:sp>
      <p:sp>
        <p:nvSpPr>
          <p:cNvPr id="218" name="grade E text"/>
          <p:cNvSpPr txBox="1"/>
          <p:nvPr/>
        </p:nvSpPr>
        <p:spPr>
          <a:xfrm>
            <a:off x="851535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0.58 to 0.74</a:t>
            </a:r>
            <a:endParaRPr lang="en-US" sz="1050" dirty="0"/>
          </a:p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Reject</a:t>
            </a:r>
            <a:endParaRPr lang="en-US" sz="1050" dirty="0"/>
          </a:p>
        </p:txBody>
      </p:sp>
      <p:sp>
        <p:nvSpPr>
          <p:cNvPr id="220" name="grade F"/>
          <p:cNvSpPr/>
          <p:nvPr/>
        </p:nvSpPr>
        <p:spPr>
          <a:xfrm>
            <a:off x="9772650" y="5048250"/>
            <a:ext cx="1771650" cy="8191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221" name="grade F letter"/>
          <p:cNvSpPr txBox="1"/>
          <p:nvPr/>
        </p:nvSpPr>
        <p:spPr>
          <a:xfrm>
            <a:off x="9906000" y="5191125"/>
            <a:ext cx="419100" cy="4762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3200" b="1" dirty="0">
                <a:solidFill>
                  <a:srgbClr val="A54355"/>
                </a:solidFill>
                <a:latin typeface="Aptos"/>
              </a:rPr>
              <a:t>F</a:t>
            </a:r>
            <a:endParaRPr lang="en-US" sz="3200" dirty="0"/>
          </a:p>
        </p:txBody>
      </p:sp>
      <p:sp>
        <p:nvSpPr>
          <p:cNvPr id="222" name="grade F text"/>
          <p:cNvSpPr txBox="1"/>
          <p:nvPr/>
        </p:nvSpPr>
        <p:spPr>
          <a:xfrm>
            <a:off x="10363200" y="5200650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0.74 and above</a:t>
            </a:r>
            <a:endParaRPr lang="en-US" sz="1050" dirty="0"/>
          </a:p>
          <a:p>
            <a:r>
              <a:rPr lang="en-US" sz="1050" dirty="0">
                <a:solidFill>
                  <a:srgbClr val="17202F"/>
                </a:solidFill>
                <a:latin typeface="Aptos"/>
              </a:rPr>
              <a:t>Reject</a:t>
            </a:r>
            <a:endParaRPr lang="en-US" sz="10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667085"/>
                </a:solidFill>
                <a:latin typeface="Aptos"/>
              </a:rPr>
              <a:t>Product promise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00" b="1" dirty="0">
                <a:solidFill>
                  <a:srgbClr val="0E8F8F"/>
                </a:solidFill>
                <a:latin typeface="Aptos"/>
              </a:rPr>
              <a:t>WHY THIS WINS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2900" b="1" dirty="0">
                <a:solidFill>
                  <a:srgbClr val="10243F"/>
                </a:solidFill>
                <a:latin typeface="Aptos"/>
              </a:rPr>
              <a:t>CredRisk.AI gives lenders faster decisions without hiding who decided what.</a:t>
            </a:r>
            <a:endParaRPr lang="en-US" sz="2900" dirty="0"/>
          </a:p>
        </p:txBody>
      </p:sp>
      <p:sp>
        <p:nvSpPr>
          <p:cNvPr id="60" name="Better intake card"/>
          <p:cNvSpPr/>
          <p:nvPr/>
        </p:nvSpPr>
        <p:spPr>
          <a:xfrm>
            <a:off x="533400" y="2000250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61" name="Better intake accent"/>
          <p:cNvSpPr/>
          <p:nvPr/>
        </p:nvSpPr>
        <p:spPr>
          <a:xfrm>
            <a:off x="533400" y="2000250"/>
            <a:ext cx="57150" cy="1381125"/>
          </a:xfrm>
          <a:prstGeom prst="rect">
            <a:avLst/>
          </a:prstGeom>
          <a:solidFill>
            <a:srgbClr val="0E8F8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62" name="Better intake title"/>
          <p:cNvSpPr txBox="1"/>
          <p:nvPr/>
        </p:nvSpPr>
        <p:spPr>
          <a:xfrm>
            <a:off x="723900" y="2152650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Better intake</a:t>
            </a:r>
            <a:endParaRPr lang="en-US" sz="1700" dirty="0"/>
          </a:p>
        </p:txBody>
      </p:sp>
      <p:sp>
        <p:nvSpPr>
          <p:cNvPr id="63" name="Better intake body"/>
          <p:cNvSpPr txBox="1"/>
          <p:nvPr/>
        </p:nvSpPr>
        <p:spPr>
          <a:xfrm>
            <a:off x="723900" y="2476500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SMEs can load sample cases or start blank, with help pop-ups explaining unfamiliar fields.</a:t>
            </a:r>
            <a:endParaRPr lang="en-US" sz="1250" dirty="0"/>
          </a:p>
        </p:txBody>
      </p:sp>
      <p:sp>
        <p:nvSpPr>
          <p:cNvPr id="70" name="Evidence trust card"/>
          <p:cNvSpPr/>
          <p:nvPr/>
        </p:nvSpPr>
        <p:spPr>
          <a:xfrm>
            <a:off x="4286250" y="2000250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71" name="Evidence trust accent"/>
          <p:cNvSpPr/>
          <p:nvPr/>
        </p:nvSpPr>
        <p:spPr>
          <a:xfrm>
            <a:off x="4286250" y="2000250"/>
            <a:ext cx="57150" cy="1381125"/>
          </a:xfrm>
          <a:prstGeom prst="rect">
            <a:avLst/>
          </a:prstGeom>
          <a:solidFill>
            <a:srgbClr val="285F9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72" name="Evidence trust title"/>
          <p:cNvSpPr txBox="1"/>
          <p:nvPr/>
        </p:nvSpPr>
        <p:spPr>
          <a:xfrm>
            <a:off x="4476750" y="2152650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Evidence trust</a:t>
            </a:r>
            <a:endParaRPr lang="en-US" sz="1700" dirty="0"/>
          </a:p>
        </p:txBody>
      </p:sp>
      <p:sp>
        <p:nvSpPr>
          <p:cNvPr id="73" name="Evidence trust body"/>
          <p:cNvSpPr txBox="1"/>
          <p:nvPr/>
        </p:nvSpPr>
        <p:spPr>
          <a:xfrm>
            <a:off x="4476750" y="2476500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Sample document packs cover clean, neutral, risky, fraudulent, and ambiguous scenarios.</a:t>
            </a:r>
            <a:endParaRPr lang="en-US" sz="1250" dirty="0"/>
          </a:p>
        </p:txBody>
      </p:sp>
      <p:sp>
        <p:nvSpPr>
          <p:cNvPr id="80" name="Explainable score card"/>
          <p:cNvSpPr/>
          <p:nvPr/>
        </p:nvSpPr>
        <p:spPr>
          <a:xfrm>
            <a:off x="8039100" y="2000250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81" name="Explainable score accent"/>
          <p:cNvSpPr/>
          <p:nvPr/>
        </p:nvSpPr>
        <p:spPr>
          <a:xfrm>
            <a:off x="8039100" y="2000250"/>
            <a:ext cx="57150" cy="1381125"/>
          </a:xfrm>
          <a:prstGeom prst="rect">
            <a:avLst/>
          </a:prstGeom>
          <a:solidFill>
            <a:srgbClr val="4F8F3A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82" name="Explainable score title"/>
          <p:cNvSpPr txBox="1"/>
          <p:nvPr/>
        </p:nvSpPr>
        <p:spPr>
          <a:xfrm>
            <a:off x="8229600" y="2152650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Explainable score</a:t>
            </a:r>
            <a:endParaRPr lang="en-US" sz="1700" dirty="0"/>
          </a:p>
        </p:txBody>
      </p:sp>
      <p:sp>
        <p:nvSpPr>
          <p:cNvPr id="83" name="Explainable score body"/>
          <p:cNvSpPr txBox="1"/>
          <p:nvPr/>
        </p:nvSpPr>
        <p:spPr>
          <a:xfrm>
            <a:off x="8229600" y="2476500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Risk drivers, ratios, and interpretation columns translate model signals into review language.</a:t>
            </a:r>
            <a:endParaRPr lang="en-US" sz="1250" dirty="0"/>
          </a:p>
        </p:txBody>
      </p:sp>
      <p:sp>
        <p:nvSpPr>
          <p:cNvPr id="90" name="Human accountability card"/>
          <p:cNvSpPr/>
          <p:nvPr/>
        </p:nvSpPr>
        <p:spPr>
          <a:xfrm>
            <a:off x="533400" y="3590925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91" name="Human accountability accent"/>
          <p:cNvSpPr/>
          <p:nvPr/>
        </p:nvSpPr>
        <p:spPr>
          <a:xfrm>
            <a:off x="533400" y="3590925"/>
            <a:ext cx="57150" cy="1381125"/>
          </a:xfrm>
          <a:prstGeom prst="rect">
            <a:avLst/>
          </a:prstGeom>
          <a:solidFill>
            <a:srgbClr val="B7761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2" name="Human accountability title"/>
          <p:cNvSpPr txBox="1"/>
          <p:nvPr/>
        </p:nvSpPr>
        <p:spPr>
          <a:xfrm>
            <a:off x="723900" y="3743325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Human accountability</a:t>
            </a:r>
            <a:endParaRPr lang="en-US" sz="1700" dirty="0"/>
          </a:p>
        </p:txBody>
      </p:sp>
      <p:sp>
        <p:nvSpPr>
          <p:cNvPr id="93" name="Human accountability body"/>
          <p:cNvSpPr txBox="1"/>
          <p:nvPr/>
        </p:nvSpPr>
        <p:spPr>
          <a:xfrm>
            <a:off x="723900" y="4067175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Ms. Cooper records the analyst action and rating separately from the Random Forest grade.</a:t>
            </a:r>
            <a:endParaRPr lang="en-US" sz="1250" dirty="0"/>
          </a:p>
        </p:txBody>
      </p:sp>
      <p:sp>
        <p:nvSpPr>
          <p:cNvPr id="100" name="AI where useful card"/>
          <p:cNvSpPr/>
          <p:nvPr/>
        </p:nvSpPr>
        <p:spPr>
          <a:xfrm>
            <a:off x="4286250" y="3590925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101" name="AI where useful accent"/>
          <p:cNvSpPr/>
          <p:nvPr/>
        </p:nvSpPr>
        <p:spPr>
          <a:xfrm>
            <a:off x="4286250" y="3590925"/>
            <a:ext cx="57150" cy="1381125"/>
          </a:xfrm>
          <a:prstGeom prst="rect">
            <a:avLst/>
          </a:prstGeom>
          <a:solidFill>
            <a:srgbClr val="A54355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2" name="AI where useful title"/>
          <p:cNvSpPr txBox="1"/>
          <p:nvPr/>
        </p:nvSpPr>
        <p:spPr>
          <a:xfrm>
            <a:off x="4476750" y="3743325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AI where useful</a:t>
            </a:r>
            <a:endParaRPr lang="en-US" sz="1700" dirty="0"/>
          </a:p>
        </p:txBody>
      </p:sp>
      <p:sp>
        <p:nvSpPr>
          <p:cNvPr id="103" name="AI where useful body"/>
          <p:cNvSpPr txBox="1"/>
          <p:nvPr/>
        </p:nvSpPr>
        <p:spPr>
          <a:xfrm>
            <a:off x="4476750" y="4067175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The AI package creates a private lender report and applicant-safe SME draft before review.</a:t>
            </a:r>
            <a:endParaRPr lang="en-US" sz="1250" dirty="0"/>
          </a:p>
        </p:txBody>
      </p:sp>
      <p:sp>
        <p:nvSpPr>
          <p:cNvPr id="110" name="Clean operations card"/>
          <p:cNvSpPr/>
          <p:nvPr/>
        </p:nvSpPr>
        <p:spPr>
          <a:xfrm>
            <a:off x="8039100" y="3590925"/>
            <a:ext cx="3429000" cy="13811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111" name="Clean operations accent"/>
          <p:cNvSpPr/>
          <p:nvPr/>
        </p:nvSpPr>
        <p:spPr>
          <a:xfrm>
            <a:off x="8039100" y="3590925"/>
            <a:ext cx="57150" cy="1381125"/>
          </a:xfrm>
          <a:prstGeom prst="rect">
            <a:avLst/>
          </a:prstGeom>
          <a:solidFill>
            <a:srgbClr val="0E8F8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2" name="Clean operations title"/>
          <p:cNvSpPr txBox="1"/>
          <p:nvPr/>
        </p:nvSpPr>
        <p:spPr>
          <a:xfrm>
            <a:off x="8229600" y="3743325"/>
            <a:ext cx="310515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Clean operations</a:t>
            </a:r>
            <a:endParaRPr lang="en-US" sz="1700" dirty="0"/>
          </a:p>
        </p:txBody>
      </p:sp>
      <p:sp>
        <p:nvSpPr>
          <p:cNvPr id="113" name="Clean operations body"/>
          <p:cNvSpPr txBox="1"/>
          <p:nvPr/>
        </p:nvSpPr>
        <p:spPr>
          <a:xfrm>
            <a:off x="8229600" y="4067175"/>
            <a:ext cx="3105150" cy="790575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Submitted SME cases stay in Home and Personal Workspace; synthetic queue work stays in Operations Desk.</a:t>
            </a:r>
            <a:endParaRPr lang="en-US" sz="12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667085"/>
                </a:solidFill>
                <a:latin typeface="Aptos"/>
              </a:rPr>
              <a:t>Differentiation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00" b="1" dirty="0">
                <a:solidFill>
                  <a:srgbClr val="0E8F8F"/>
                </a:solidFill>
                <a:latin typeface="Aptos"/>
              </a:rPr>
              <a:t>ARCHITECTURE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2900" b="1" dirty="0">
                <a:solidFill>
                  <a:srgbClr val="10243F"/>
                </a:solidFill>
                <a:latin typeface="Aptos"/>
              </a:rPr>
              <a:t>The MVP maps the business plan into working software, not a mockup.</a:t>
            </a:r>
            <a:endParaRPr lang="en-US" sz="2900" dirty="0"/>
          </a:p>
        </p:txBody>
      </p:sp>
      <p:sp>
        <p:nvSpPr>
          <p:cNvPr id="60" name="flow step"/>
          <p:cNvSpPr/>
          <p:nvPr/>
        </p:nvSpPr>
        <p:spPr>
          <a:xfrm>
            <a:off x="5334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61" name="step number circle"/>
          <p:cNvSpPr/>
          <p:nvPr/>
        </p:nvSpPr>
        <p:spPr>
          <a:xfrm>
            <a:off x="7048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62" name="step number"/>
          <p:cNvSpPr txBox="1"/>
          <p:nvPr/>
        </p:nvSpPr>
        <p:spPr>
          <a:xfrm>
            <a:off x="7048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1</a:t>
            </a:r>
            <a:endParaRPr lang="en-US" sz="1700" dirty="0"/>
          </a:p>
        </p:txBody>
      </p:sp>
      <p:sp>
        <p:nvSpPr>
          <p:cNvPr id="63" name="step title"/>
          <p:cNvSpPr txBox="1"/>
          <p:nvPr/>
        </p:nvSpPr>
        <p:spPr>
          <a:xfrm>
            <a:off x="7429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550" b="1" dirty="0">
                <a:solidFill>
                  <a:srgbClr val="10243F"/>
                </a:solidFill>
                <a:latin typeface="Aptos"/>
              </a:rPr>
              <a:t>Role-aware Streamlit UI</a:t>
            </a:r>
            <a:endParaRPr lang="en-US" sz="1550" dirty="0"/>
          </a:p>
        </p:txBody>
      </p:sp>
      <p:sp>
        <p:nvSpPr>
          <p:cNvPr id="64" name="step body"/>
          <p:cNvSpPr txBox="1"/>
          <p:nvPr/>
        </p:nvSpPr>
        <p:spPr>
          <a:xfrm>
            <a:off x="7429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SME Loan Intake Portal, lender Home, Personal Workspace, Operations Desk, dashboards, settings, tutorials, and support.</a:t>
            </a:r>
            <a:endParaRPr lang="en-US" sz="1150" dirty="0"/>
          </a:p>
        </p:txBody>
      </p:sp>
      <p:sp>
        <p:nvSpPr>
          <p:cNvPr id="70" name="flow step"/>
          <p:cNvSpPr/>
          <p:nvPr/>
        </p:nvSpPr>
        <p:spPr>
          <a:xfrm>
            <a:off x="27813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71" name="step number circle"/>
          <p:cNvSpPr/>
          <p:nvPr/>
        </p:nvSpPr>
        <p:spPr>
          <a:xfrm>
            <a:off x="29527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72" name="step number"/>
          <p:cNvSpPr txBox="1"/>
          <p:nvPr/>
        </p:nvSpPr>
        <p:spPr>
          <a:xfrm>
            <a:off x="29527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2</a:t>
            </a:r>
            <a:endParaRPr lang="en-US" sz="1700" dirty="0"/>
          </a:p>
        </p:txBody>
      </p:sp>
      <p:sp>
        <p:nvSpPr>
          <p:cNvPr id="73" name="step title"/>
          <p:cNvSpPr txBox="1"/>
          <p:nvPr/>
        </p:nvSpPr>
        <p:spPr>
          <a:xfrm>
            <a:off x="29908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550" b="1" dirty="0">
                <a:solidFill>
                  <a:srgbClr val="10243F"/>
                </a:solidFill>
                <a:latin typeface="Aptos"/>
              </a:rPr>
              <a:t>Data and evidence pipeline</a:t>
            </a:r>
            <a:endParaRPr lang="en-US" sz="1550" dirty="0"/>
          </a:p>
        </p:txBody>
      </p:sp>
      <p:sp>
        <p:nvSpPr>
          <p:cNvPr id="74" name="step body"/>
          <p:cNvSpPr txBox="1"/>
          <p:nvPr/>
        </p:nvSpPr>
        <p:spPr>
          <a:xfrm>
            <a:off x="29908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Synthetic SME portfolio, realistic sample companies, local document vault, hashes, and generated sample evidence.</a:t>
            </a:r>
            <a:endParaRPr lang="en-US" sz="1150" dirty="0"/>
          </a:p>
        </p:txBody>
      </p:sp>
      <p:sp>
        <p:nvSpPr>
          <p:cNvPr id="80" name="flow step"/>
          <p:cNvSpPr/>
          <p:nvPr/>
        </p:nvSpPr>
        <p:spPr>
          <a:xfrm>
            <a:off x="50292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81" name="step number circle"/>
          <p:cNvSpPr/>
          <p:nvPr/>
        </p:nvSpPr>
        <p:spPr>
          <a:xfrm>
            <a:off x="52006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82" name="step number"/>
          <p:cNvSpPr txBox="1"/>
          <p:nvPr/>
        </p:nvSpPr>
        <p:spPr>
          <a:xfrm>
            <a:off x="52006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3</a:t>
            </a:r>
            <a:endParaRPr lang="en-US" sz="1700" dirty="0"/>
          </a:p>
        </p:txBody>
      </p:sp>
      <p:sp>
        <p:nvSpPr>
          <p:cNvPr id="83" name="step title"/>
          <p:cNvSpPr txBox="1"/>
          <p:nvPr/>
        </p:nvSpPr>
        <p:spPr>
          <a:xfrm>
            <a:off x="52387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550" b="1" dirty="0">
                <a:solidFill>
                  <a:srgbClr val="10243F"/>
                </a:solidFill>
                <a:latin typeface="Aptos"/>
              </a:rPr>
              <a:t>Random Forest risk engine</a:t>
            </a:r>
            <a:endParaRPr lang="en-US" sz="1550" dirty="0"/>
          </a:p>
        </p:txBody>
      </p:sp>
      <p:sp>
        <p:nvSpPr>
          <p:cNvPr id="84" name="step body"/>
          <p:cNvSpPr txBox="1"/>
          <p:nvPr/>
        </p:nvSpPr>
        <p:spPr>
          <a:xfrm>
            <a:off x="52387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Scikit-learn preprocessing, derived credit and fraud signals, 0-1 risk score, A-F grading, and model metrics.</a:t>
            </a:r>
            <a:endParaRPr lang="en-US" sz="1150" dirty="0"/>
          </a:p>
        </p:txBody>
      </p:sp>
      <p:sp>
        <p:nvSpPr>
          <p:cNvPr id="90" name="flow step"/>
          <p:cNvSpPr/>
          <p:nvPr/>
        </p:nvSpPr>
        <p:spPr>
          <a:xfrm>
            <a:off x="72771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91" name="step number circle"/>
          <p:cNvSpPr/>
          <p:nvPr/>
        </p:nvSpPr>
        <p:spPr>
          <a:xfrm>
            <a:off x="74485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2" name="step number"/>
          <p:cNvSpPr txBox="1"/>
          <p:nvPr/>
        </p:nvSpPr>
        <p:spPr>
          <a:xfrm>
            <a:off x="74485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4</a:t>
            </a:r>
            <a:endParaRPr lang="en-US" sz="1700" dirty="0"/>
          </a:p>
        </p:txBody>
      </p:sp>
      <p:sp>
        <p:nvSpPr>
          <p:cNvPr id="93" name="step title"/>
          <p:cNvSpPr txBox="1"/>
          <p:nvPr/>
        </p:nvSpPr>
        <p:spPr>
          <a:xfrm>
            <a:off x="74866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550" b="1" dirty="0">
                <a:solidFill>
                  <a:srgbClr val="10243F"/>
                </a:solidFill>
                <a:latin typeface="Aptos"/>
              </a:rPr>
              <a:t>AI report layer</a:t>
            </a:r>
            <a:endParaRPr lang="en-US" sz="1550" dirty="0"/>
          </a:p>
        </p:txBody>
      </p:sp>
      <p:sp>
        <p:nvSpPr>
          <p:cNvPr id="94" name="step body"/>
          <p:cNvSpPr txBox="1"/>
          <p:nvPr/>
        </p:nvSpPr>
        <p:spPr>
          <a:xfrm>
            <a:off x="74866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Deterministic fallback plus OpenAI or local LLM path for internal and applicant-safe report generation.</a:t>
            </a:r>
            <a:endParaRPr lang="en-US" sz="1150" dirty="0"/>
          </a:p>
        </p:txBody>
      </p:sp>
      <p:sp>
        <p:nvSpPr>
          <p:cNvPr id="100" name="flow step"/>
          <p:cNvSpPr/>
          <p:nvPr/>
        </p:nvSpPr>
        <p:spPr>
          <a:xfrm>
            <a:off x="9525000" y="2076450"/>
            <a:ext cx="2133600" cy="3143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101" name="step number circle"/>
          <p:cNvSpPr/>
          <p:nvPr/>
        </p:nvSpPr>
        <p:spPr>
          <a:xfrm>
            <a:off x="9696450" y="2247900"/>
            <a:ext cx="419100" cy="419100"/>
          </a:xfrm>
          <a:prstGeom prst="roundRect">
            <a:avLst/>
          </a:prstGeom>
          <a:solidFill>
            <a:srgbClr val="E6F5F4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2" name="step number"/>
          <p:cNvSpPr txBox="1"/>
          <p:nvPr/>
        </p:nvSpPr>
        <p:spPr>
          <a:xfrm>
            <a:off x="9696450" y="2314575"/>
            <a:ext cx="41910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700" b="1" dirty="0">
                <a:solidFill>
                  <a:srgbClr val="0E8F8F"/>
                </a:solidFill>
                <a:latin typeface="Aptos"/>
              </a:rPr>
              <a:t>5</a:t>
            </a:r>
            <a:endParaRPr lang="en-US" sz="1700" dirty="0"/>
          </a:p>
        </p:txBody>
      </p:sp>
      <p:sp>
        <p:nvSpPr>
          <p:cNvPr id="103" name="step title"/>
          <p:cNvSpPr txBox="1"/>
          <p:nvPr/>
        </p:nvSpPr>
        <p:spPr>
          <a:xfrm>
            <a:off x="9734550" y="2819400"/>
            <a:ext cx="1714500" cy="552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550" b="1" dirty="0">
                <a:solidFill>
                  <a:srgbClr val="10243F"/>
                </a:solidFill>
                <a:latin typeface="Aptos"/>
              </a:rPr>
              <a:t>Runtime state and audit trail</a:t>
            </a:r>
            <a:endParaRPr lang="en-US" sz="1550" dirty="0"/>
          </a:p>
        </p:txBody>
      </p:sp>
      <p:sp>
        <p:nvSpPr>
          <p:cNvPr id="104" name="step body"/>
          <p:cNvSpPr txBox="1"/>
          <p:nvPr/>
        </p:nvSpPr>
        <p:spPr>
          <a:xfrm>
            <a:off x="9734550" y="3486150"/>
            <a:ext cx="1714500" cy="1390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Submitted snapshots, reviews, AI outputs, validation results, publications, and demo persistence stay traceable.</a:t>
            </a:r>
            <a:endParaRPr lang="en-US" sz="11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667085"/>
                </a:solidFill>
                <a:latin typeface="Aptos"/>
              </a:rPr>
              <a:t>How it is built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00" b="1" dirty="0">
                <a:solidFill>
                  <a:srgbClr val="0E8F8F"/>
                </a:solidFill>
                <a:latin typeface="Aptos"/>
              </a:rPr>
              <a:t>DEMO PATH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2900" b="1" dirty="0">
                <a:solidFill>
                  <a:srgbClr val="10243F"/>
                </a:solidFill>
                <a:latin typeface="Aptos"/>
              </a:rPr>
              <a:t>The live demo follows the pitch script: SME to analyst to SME.</a:t>
            </a:r>
            <a:endParaRPr lang="en-US" sz="2900" dirty="0"/>
          </a:p>
        </p:txBody>
      </p:sp>
      <p:sp>
        <p:nvSpPr>
          <p:cNvPr id="60" name="demo row"/>
          <p:cNvSpPr/>
          <p:nvPr/>
        </p:nvSpPr>
        <p:spPr>
          <a:xfrm>
            <a:off x="533400" y="190500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61" name="demo num"/>
          <p:cNvSpPr/>
          <p:nvPr/>
        </p:nvSpPr>
        <p:spPr>
          <a:xfrm>
            <a:off x="704850" y="211455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62" name="demo number"/>
          <p:cNvSpPr txBox="1"/>
          <p:nvPr/>
        </p:nvSpPr>
        <p:spPr>
          <a:xfrm>
            <a:off x="704850" y="21812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1</a:t>
            </a:r>
            <a:endParaRPr lang="en-US" sz="1600" dirty="0"/>
          </a:p>
        </p:txBody>
      </p:sp>
      <p:sp>
        <p:nvSpPr>
          <p:cNvPr id="63" name="demo title"/>
          <p:cNvSpPr txBox="1"/>
          <p:nvPr/>
        </p:nvSpPr>
        <p:spPr>
          <a:xfrm>
            <a:off x="1314450" y="204787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600" b="1" dirty="0">
                <a:solidFill>
                  <a:srgbClr val="10243F"/>
                </a:solidFill>
                <a:latin typeface="Aptos"/>
              </a:rPr>
              <a:t>SME login</a:t>
            </a:r>
            <a:endParaRPr lang="en-US" sz="1600" dirty="0"/>
          </a:p>
        </p:txBody>
      </p:sp>
      <p:sp>
        <p:nvSpPr>
          <p:cNvPr id="64" name="demo body"/>
          <p:cNvSpPr txBox="1"/>
          <p:nvPr/>
        </p:nvSpPr>
        <p:spPr>
          <a:xfrm>
            <a:off x="1314450" y="231457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Choose SME company, use DemoUser and SME SSO, then open the Loan Intake Portal.</a:t>
            </a:r>
            <a:endParaRPr lang="en-US" sz="1150" dirty="0"/>
          </a:p>
        </p:txBody>
      </p:sp>
      <p:sp>
        <p:nvSpPr>
          <p:cNvPr id="70" name="demo row"/>
          <p:cNvSpPr/>
          <p:nvPr/>
        </p:nvSpPr>
        <p:spPr>
          <a:xfrm>
            <a:off x="6248400" y="190500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71" name="demo num"/>
          <p:cNvSpPr/>
          <p:nvPr/>
        </p:nvSpPr>
        <p:spPr>
          <a:xfrm>
            <a:off x="6419850" y="211455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72" name="demo number"/>
          <p:cNvSpPr txBox="1"/>
          <p:nvPr/>
        </p:nvSpPr>
        <p:spPr>
          <a:xfrm>
            <a:off x="6419850" y="21812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2</a:t>
            </a:r>
            <a:endParaRPr lang="en-US" sz="1600" dirty="0"/>
          </a:p>
        </p:txBody>
      </p:sp>
      <p:sp>
        <p:nvSpPr>
          <p:cNvPr id="73" name="demo title"/>
          <p:cNvSpPr txBox="1"/>
          <p:nvPr/>
        </p:nvSpPr>
        <p:spPr>
          <a:xfrm>
            <a:off x="7029450" y="204787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600" b="1" dirty="0">
                <a:solidFill>
                  <a:srgbClr val="10243F"/>
                </a:solidFill>
                <a:latin typeface="Aptos"/>
              </a:rPr>
              <a:t>Loan Intake Portal</a:t>
            </a:r>
            <a:endParaRPr lang="en-US" sz="1600" dirty="0"/>
          </a:p>
        </p:txBody>
      </p:sp>
      <p:sp>
        <p:nvSpPr>
          <p:cNvPr id="74" name="demo body"/>
          <p:cNvSpPr txBox="1"/>
          <p:nvPr/>
        </p:nvSpPr>
        <p:spPr>
          <a:xfrm>
            <a:off x="7029450" y="231457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Load a sample evidence case or blank intake, complete the detailed form, attach documents, and submit.</a:t>
            </a:r>
            <a:endParaRPr lang="en-US" sz="1150" dirty="0"/>
          </a:p>
        </p:txBody>
      </p:sp>
      <p:sp>
        <p:nvSpPr>
          <p:cNvPr id="80" name="demo row"/>
          <p:cNvSpPr/>
          <p:nvPr/>
        </p:nvSpPr>
        <p:spPr>
          <a:xfrm>
            <a:off x="533400" y="299085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81" name="demo num"/>
          <p:cNvSpPr/>
          <p:nvPr/>
        </p:nvSpPr>
        <p:spPr>
          <a:xfrm>
            <a:off x="704850" y="320040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82" name="demo number"/>
          <p:cNvSpPr txBox="1"/>
          <p:nvPr/>
        </p:nvSpPr>
        <p:spPr>
          <a:xfrm>
            <a:off x="704850" y="326707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3</a:t>
            </a:r>
            <a:endParaRPr lang="en-US" sz="1600" dirty="0"/>
          </a:p>
        </p:txBody>
      </p:sp>
      <p:sp>
        <p:nvSpPr>
          <p:cNvPr id="83" name="demo title"/>
          <p:cNvSpPr txBox="1"/>
          <p:nvPr/>
        </p:nvSpPr>
        <p:spPr>
          <a:xfrm>
            <a:off x="1314450" y="313372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600" b="1" dirty="0">
                <a:solidFill>
                  <a:srgbClr val="10243F"/>
                </a:solidFill>
                <a:latin typeface="Aptos"/>
              </a:rPr>
              <a:t>Lender handoff</a:t>
            </a:r>
            <a:endParaRPr lang="en-US" sz="1600" dirty="0"/>
          </a:p>
        </p:txBody>
      </p:sp>
      <p:sp>
        <p:nvSpPr>
          <p:cNvPr id="84" name="demo body"/>
          <p:cNvSpPr txBox="1"/>
          <p:nvPr/>
        </p:nvSpPr>
        <p:spPr>
          <a:xfrm>
            <a:off x="1314450" y="340042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Log in with YourBank SSO; Home shows Suggested Actions and the SME Portal Intake snapshot.</a:t>
            </a:r>
            <a:endParaRPr lang="en-US" sz="1150" dirty="0"/>
          </a:p>
        </p:txBody>
      </p:sp>
      <p:sp>
        <p:nvSpPr>
          <p:cNvPr id="90" name="demo row"/>
          <p:cNvSpPr/>
          <p:nvPr/>
        </p:nvSpPr>
        <p:spPr>
          <a:xfrm>
            <a:off x="6248400" y="299085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91" name="demo num"/>
          <p:cNvSpPr/>
          <p:nvPr/>
        </p:nvSpPr>
        <p:spPr>
          <a:xfrm>
            <a:off x="6419850" y="320040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2" name="demo number"/>
          <p:cNvSpPr txBox="1"/>
          <p:nvPr/>
        </p:nvSpPr>
        <p:spPr>
          <a:xfrm>
            <a:off x="6419850" y="326707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4</a:t>
            </a:r>
            <a:endParaRPr lang="en-US" sz="1600" dirty="0"/>
          </a:p>
        </p:txBody>
      </p:sp>
      <p:sp>
        <p:nvSpPr>
          <p:cNvPr id="93" name="demo title"/>
          <p:cNvSpPr txBox="1"/>
          <p:nvPr/>
        </p:nvSpPr>
        <p:spPr>
          <a:xfrm>
            <a:off x="7029450" y="313372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600" b="1" dirty="0">
                <a:solidFill>
                  <a:srgbClr val="10243F"/>
                </a:solidFill>
                <a:latin typeface="Aptos"/>
              </a:rPr>
              <a:t>Personal Workspace</a:t>
            </a:r>
            <a:endParaRPr lang="en-US" sz="1600" dirty="0"/>
          </a:p>
        </p:txBody>
      </p:sp>
      <p:sp>
        <p:nvSpPr>
          <p:cNvPr id="94" name="demo body"/>
          <p:cNvSpPr txBox="1"/>
          <p:nvPr/>
        </p:nvSpPr>
        <p:spPr>
          <a:xfrm>
            <a:off x="7029450" y="340042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Open the locked intake, inspect evidence, view the Random Forest score, and run Risk Analysis.</a:t>
            </a:r>
            <a:endParaRPr lang="en-US" sz="1150" dirty="0"/>
          </a:p>
        </p:txBody>
      </p:sp>
      <p:sp>
        <p:nvSpPr>
          <p:cNvPr id="100" name="demo row"/>
          <p:cNvSpPr/>
          <p:nvPr/>
        </p:nvSpPr>
        <p:spPr>
          <a:xfrm>
            <a:off x="533400" y="407670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101" name="demo num"/>
          <p:cNvSpPr/>
          <p:nvPr/>
        </p:nvSpPr>
        <p:spPr>
          <a:xfrm>
            <a:off x="704850" y="428625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2" name="demo number"/>
          <p:cNvSpPr txBox="1"/>
          <p:nvPr/>
        </p:nvSpPr>
        <p:spPr>
          <a:xfrm>
            <a:off x="704850" y="43529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5</a:t>
            </a:r>
            <a:endParaRPr lang="en-US" sz="1600" dirty="0"/>
          </a:p>
        </p:txBody>
      </p:sp>
      <p:sp>
        <p:nvSpPr>
          <p:cNvPr id="103" name="demo title"/>
          <p:cNvSpPr txBox="1"/>
          <p:nvPr/>
        </p:nvSpPr>
        <p:spPr>
          <a:xfrm>
            <a:off x="1314450" y="421957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600" b="1" dirty="0">
                <a:solidFill>
                  <a:srgbClr val="10243F"/>
                </a:solidFill>
                <a:latin typeface="Aptos"/>
              </a:rPr>
              <a:t>AI Output and Case Review</a:t>
            </a:r>
            <a:endParaRPr lang="en-US" sz="1600" dirty="0"/>
          </a:p>
        </p:txBody>
      </p:sp>
      <p:sp>
        <p:nvSpPr>
          <p:cNvPr id="104" name="demo body"/>
          <p:cNvSpPr txBox="1"/>
          <p:nvPr/>
        </p:nvSpPr>
        <p:spPr>
          <a:xfrm>
            <a:off x="1314450" y="448627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Generate the internal and SME reports, then record the analyst decision and publish the approved copy.</a:t>
            </a:r>
            <a:endParaRPr lang="en-US" sz="1150" dirty="0"/>
          </a:p>
        </p:txBody>
      </p:sp>
      <p:sp>
        <p:nvSpPr>
          <p:cNvPr id="110" name="demo row"/>
          <p:cNvSpPr/>
          <p:nvPr/>
        </p:nvSpPr>
        <p:spPr>
          <a:xfrm>
            <a:off x="6248400" y="4076700"/>
            <a:ext cx="5334000" cy="857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111" name="demo num"/>
          <p:cNvSpPr/>
          <p:nvPr/>
        </p:nvSpPr>
        <p:spPr>
          <a:xfrm>
            <a:off x="6419850" y="4286250"/>
            <a:ext cx="438150" cy="438150"/>
          </a:xfrm>
          <a:prstGeom prst="roundRect">
            <a:avLst/>
          </a:prstGeom>
          <a:solidFill>
            <a:srgbClr val="10243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2" name="demo number"/>
          <p:cNvSpPr txBox="1"/>
          <p:nvPr/>
        </p:nvSpPr>
        <p:spPr>
          <a:xfrm>
            <a:off x="6419850" y="4352925"/>
            <a:ext cx="43815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6</a:t>
            </a:r>
            <a:endParaRPr lang="en-US" sz="1600" dirty="0"/>
          </a:p>
        </p:txBody>
      </p:sp>
      <p:sp>
        <p:nvSpPr>
          <p:cNvPr id="113" name="demo title"/>
          <p:cNvSpPr txBox="1"/>
          <p:nvPr/>
        </p:nvSpPr>
        <p:spPr>
          <a:xfrm>
            <a:off x="7029450" y="4219575"/>
            <a:ext cx="409575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600" b="1" dirty="0">
                <a:solidFill>
                  <a:srgbClr val="10243F"/>
                </a:solidFill>
                <a:latin typeface="Aptos"/>
              </a:rPr>
              <a:t>SME outcome</a:t>
            </a:r>
            <a:endParaRPr lang="en-US" sz="1600" dirty="0"/>
          </a:p>
        </p:txBody>
      </p:sp>
      <p:sp>
        <p:nvSpPr>
          <p:cNvPr id="114" name="demo body"/>
          <p:cNvSpPr txBox="1"/>
          <p:nvPr/>
        </p:nvSpPr>
        <p:spPr>
          <a:xfrm>
            <a:off x="7029450" y="4486275"/>
            <a:ext cx="4191000" cy="361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50" dirty="0">
                <a:solidFill>
                  <a:srgbClr val="667085"/>
                </a:solidFill>
                <a:latin typeface="Aptos"/>
              </a:rPr>
              <a:t>Return as the SME to see the published rating, lender message, and downloadable evaluation report.</a:t>
            </a:r>
            <a:endParaRPr lang="en-US" sz="11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667085"/>
                </a:solidFill>
                <a:latin typeface="Aptos"/>
              </a:rPr>
              <a:t>Pre-demo bridge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00" b="1" dirty="0">
                <a:solidFill>
                  <a:srgbClr val="0E8F8F"/>
                </a:solidFill>
                <a:latin typeface="Aptos"/>
              </a:rPr>
              <a:t>SCALE AND RISK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2900" b="1" dirty="0">
                <a:solidFill>
                  <a:srgbClr val="10243F"/>
                </a:solidFill>
                <a:latin typeface="Aptos"/>
              </a:rPr>
              <a:t>The MVP is focused; production needs integrations, controls, and monitoring.</a:t>
            </a:r>
            <a:endParaRPr lang="en-US" sz="2900" dirty="0"/>
          </a:p>
        </p:txBody>
      </p:sp>
      <p:sp>
        <p:nvSpPr>
          <p:cNvPr id="60" name="Scale prerequisites card"/>
          <p:cNvSpPr/>
          <p:nvPr/>
        </p:nvSpPr>
        <p:spPr>
          <a:xfrm>
            <a:off x="742950" y="2095500"/>
            <a:ext cx="49530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61" name="Scale prerequisites accent"/>
          <p:cNvSpPr/>
          <p:nvPr/>
        </p:nvSpPr>
        <p:spPr>
          <a:xfrm>
            <a:off x="742950" y="2095500"/>
            <a:ext cx="57150" cy="2286000"/>
          </a:xfrm>
          <a:prstGeom prst="rect">
            <a:avLst/>
          </a:prstGeom>
          <a:solidFill>
            <a:srgbClr val="285F9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62" name="Scale prerequisites title"/>
          <p:cNvSpPr txBox="1"/>
          <p:nvPr/>
        </p:nvSpPr>
        <p:spPr>
          <a:xfrm>
            <a:off x="933450" y="2247900"/>
            <a:ext cx="462915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Scale prerequisites</a:t>
            </a:r>
            <a:endParaRPr lang="en-US" sz="1700" dirty="0"/>
          </a:p>
        </p:txBody>
      </p:sp>
      <p:sp>
        <p:nvSpPr>
          <p:cNvPr id="63" name="Scale prerequisites body"/>
          <p:cNvSpPr txBox="1"/>
          <p:nvPr/>
        </p:nvSpPr>
        <p:spPr>
          <a:xfrm>
            <a:off x="933450" y="2571750"/>
            <a:ext cx="4629150" cy="1695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PSD2, accounting, registry/KYB, document ingestion, role-based access, secure secrets, deployment controls, and model monitoring.</a:t>
            </a:r>
            <a:endParaRPr lang="en-US" sz="1250" dirty="0"/>
          </a:p>
        </p:txBody>
      </p:sp>
      <p:sp>
        <p:nvSpPr>
          <p:cNvPr id="120" name="tag"/>
          <p:cNvSpPr/>
          <p:nvPr/>
        </p:nvSpPr>
        <p:spPr>
          <a:xfrm>
            <a:off x="952500" y="4591050"/>
            <a:ext cx="838200" cy="323850"/>
          </a:xfrm>
          <a:prstGeom prst="roundRect">
            <a:avLst/>
          </a:prstGeom>
          <a:solidFill>
            <a:srgbClr val="EAF1F9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20" name="tag text"/>
          <p:cNvSpPr txBox="1"/>
          <p:nvPr/>
        </p:nvSpPr>
        <p:spPr>
          <a:xfrm>
            <a:off x="1028700" y="4638675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285F9F"/>
                </a:solidFill>
                <a:latin typeface="Aptos"/>
              </a:rPr>
              <a:t>PSD2</a:t>
            </a:r>
            <a:endParaRPr lang="en-US" sz="1100" dirty="0"/>
          </a:p>
        </p:txBody>
      </p:sp>
      <p:sp>
        <p:nvSpPr>
          <p:cNvPr id="124" name="tag"/>
          <p:cNvSpPr/>
          <p:nvPr/>
        </p:nvSpPr>
        <p:spPr>
          <a:xfrm>
            <a:off x="1866900" y="4591050"/>
            <a:ext cx="1981200" cy="323850"/>
          </a:xfrm>
          <a:prstGeom prst="roundRect">
            <a:avLst/>
          </a:prstGeom>
          <a:solidFill>
            <a:srgbClr val="EAF1F9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24" name="tag text"/>
          <p:cNvSpPr txBox="1"/>
          <p:nvPr/>
        </p:nvSpPr>
        <p:spPr>
          <a:xfrm>
            <a:off x="1943100" y="4638675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285F9F"/>
                </a:solidFill>
                <a:latin typeface="Aptos"/>
              </a:rPr>
              <a:t>Accounting APIs</a:t>
            </a:r>
            <a:endParaRPr lang="en-US" sz="1100" dirty="0"/>
          </a:p>
        </p:txBody>
      </p:sp>
      <p:sp>
        <p:nvSpPr>
          <p:cNvPr id="128" name="tag"/>
          <p:cNvSpPr/>
          <p:nvPr/>
        </p:nvSpPr>
        <p:spPr>
          <a:xfrm>
            <a:off x="3924300" y="4591050"/>
            <a:ext cx="1638300" cy="323850"/>
          </a:xfrm>
          <a:prstGeom prst="roundRect">
            <a:avLst/>
          </a:prstGeom>
          <a:solidFill>
            <a:srgbClr val="EAF1F9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28" name="tag text"/>
          <p:cNvSpPr txBox="1"/>
          <p:nvPr/>
        </p:nvSpPr>
        <p:spPr>
          <a:xfrm>
            <a:off x="4000500" y="4638675"/>
            <a:ext cx="1485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285F9F"/>
                </a:solidFill>
                <a:latin typeface="Aptos"/>
              </a:rPr>
              <a:t>KYB registry</a:t>
            </a:r>
            <a:endParaRPr lang="en-US" sz="1100" dirty="0"/>
          </a:p>
        </p:txBody>
      </p:sp>
      <p:sp>
        <p:nvSpPr>
          <p:cNvPr id="132" name="tag"/>
          <p:cNvSpPr/>
          <p:nvPr/>
        </p:nvSpPr>
        <p:spPr>
          <a:xfrm>
            <a:off x="952500" y="4991100"/>
            <a:ext cx="1981200" cy="323850"/>
          </a:xfrm>
          <a:prstGeom prst="roundRect">
            <a:avLst/>
          </a:prstGeom>
          <a:solidFill>
            <a:srgbClr val="EAF1F9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32" name="tag text"/>
          <p:cNvSpPr txBox="1"/>
          <p:nvPr/>
        </p:nvSpPr>
        <p:spPr>
          <a:xfrm>
            <a:off x="1028700" y="5038725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285F9F"/>
                </a:solidFill>
                <a:latin typeface="Aptos"/>
              </a:rPr>
              <a:t>Document review</a:t>
            </a:r>
            <a:endParaRPr lang="en-US" sz="1100" dirty="0"/>
          </a:p>
        </p:txBody>
      </p:sp>
      <p:sp>
        <p:nvSpPr>
          <p:cNvPr id="80" name="Managed risks card"/>
          <p:cNvSpPr/>
          <p:nvPr/>
        </p:nvSpPr>
        <p:spPr>
          <a:xfrm>
            <a:off x="6362700" y="2095500"/>
            <a:ext cx="495300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81" name="Managed risks accent"/>
          <p:cNvSpPr/>
          <p:nvPr/>
        </p:nvSpPr>
        <p:spPr>
          <a:xfrm>
            <a:off x="6362700" y="2095500"/>
            <a:ext cx="57150" cy="2286000"/>
          </a:xfrm>
          <a:prstGeom prst="rect">
            <a:avLst/>
          </a:prstGeom>
          <a:solidFill>
            <a:srgbClr val="A54355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82" name="Managed risks title"/>
          <p:cNvSpPr txBox="1"/>
          <p:nvPr/>
        </p:nvSpPr>
        <p:spPr>
          <a:xfrm>
            <a:off x="6553200" y="2247900"/>
            <a:ext cx="462915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Managed risks</a:t>
            </a:r>
            <a:endParaRPr lang="en-US" sz="1700" dirty="0"/>
          </a:p>
        </p:txBody>
      </p:sp>
      <p:sp>
        <p:nvSpPr>
          <p:cNvPr id="83" name="Managed risks body"/>
          <p:cNvSpPr txBox="1"/>
          <p:nvPr/>
        </p:nvSpPr>
        <p:spPr>
          <a:xfrm>
            <a:off x="6553200" y="2571750"/>
            <a:ext cx="4629150" cy="16954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False positives, fraud misses, AI hallucination, data leakage, model drift, and over-reliance on automation are handled through review gates and auditability.</a:t>
            </a:r>
            <a:endParaRPr lang="en-US" sz="1250" dirty="0"/>
          </a:p>
        </p:txBody>
      </p:sp>
      <p:sp>
        <p:nvSpPr>
          <p:cNvPr id="160" name="tag"/>
          <p:cNvSpPr/>
          <p:nvPr/>
        </p:nvSpPr>
        <p:spPr>
          <a:xfrm>
            <a:off x="6572250" y="4591050"/>
            <a:ext cx="2000250" cy="323850"/>
          </a:xfrm>
          <a:prstGeom prst="roundRect">
            <a:avLst/>
          </a:prstGeom>
          <a:solidFill>
            <a:srgbClr val="FBECE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60" name="tag text"/>
          <p:cNvSpPr txBox="1"/>
          <p:nvPr/>
        </p:nvSpPr>
        <p:spPr>
          <a:xfrm>
            <a:off x="6648450" y="4638675"/>
            <a:ext cx="1847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A54355"/>
                </a:solidFill>
                <a:latin typeface="Aptos"/>
              </a:rPr>
              <a:t>Human final decision</a:t>
            </a:r>
            <a:endParaRPr lang="en-US" sz="1100" dirty="0"/>
          </a:p>
        </p:txBody>
      </p:sp>
      <p:sp>
        <p:nvSpPr>
          <p:cNvPr id="164" name="tag"/>
          <p:cNvSpPr/>
          <p:nvPr/>
        </p:nvSpPr>
        <p:spPr>
          <a:xfrm>
            <a:off x="8648700" y="4591050"/>
            <a:ext cx="1866900" cy="323850"/>
          </a:xfrm>
          <a:prstGeom prst="roundRect">
            <a:avLst/>
          </a:prstGeom>
          <a:solidFill>
            <a:srgbClr val="FBECE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64" name="tag text"/>
          <p:cNvSpPr txBox="1"/>
          <p:nvPr/>
        </p:nvSpPr>
        <p:spPr>
          <a:xfrm>
            <a:off x="8724900" y="463867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A54355"/>
                </a:solidFill>
                <a:latin typeface="Aptos"/>
              </a:rPr>
              <a:t>AI review gate</a:t>
            </a:r>
            <a:endParaRPr lang="en-US" sz="1100" dirty="0"/>
          </a:p>
        </p:txBody>
      </p:sp>
      <p:sp>
        <p:nvSpPr>
          <p:cNvPr id="168" name="tag"/>
          <p:cNvSpPr/>
          <p:nvPr/>
        </p:nvSpPr>
        <p:spPr>
          <a:xfrm>
            <a:off x="6572250" y="4991100"/>
            <a:ext cx="2000250" cy="323850"/>
          </a:xfrm>
          <a:prstGeom prst="roundRect">
            <a:avLst/>
          </a:prstGeom>
          <a:solidFill>
            <a:srgbClr val="FBECE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68" name="tag text"/>
          <p:cNvSpPr txBox="1"/>
          <p:nvPr/>
        </p:nvSpPr>
        <p:spPr>
          <a:xfrm>
            <a:off x="6648450" y="5038725"/>
            <a:ext cx="1847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A54355"/>
                </a:solidFill>
                <a:latin typeface="Aptos"/>
              </a:rPr>
              <a:t>Validation metrics</a:t>
            </a:r>
            <a:endParaRPr lang="en-US" sz="1100" dirty="0"/>
          </a:p>
        </p:txBody>
      </p:sp>
      <p:sp>
        <p:nvSpPr>
          <p:cNvPr id="172" name="tag"/>
          <p:cNvSpPr/>
          <p:nvPr/>
        </p:nvSpPr>
        <p:spPr>
          <a:xfrm>
            <a:off x="8648700" y="4991100"/>
            <a:ext cx="1524000" cy="323850"/>
          </a:xfrm>
          <a:prstGeom prst="roundRect">
            <a:avLst/>
          </a:prstGeom>
          <a:solidFill>
            <a:srgbClr val="FBECE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172" name="tag text"/>
          <p:cNvSpPr txBox="1"/>
          <p:nvPr/>
        </p:nvSpPr>
        <p:spPr>
          <a:xfrm>
            <a:off x="8724900" y="5038725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100" b="1" dirty="0">
                <a:solidFill>
                  <a:srgbClr val="A54355"/>
                </a:solidFill>
                <a:latin typeface="Aptos"/>
              </a:rPr>
              <a:t>Audit trail</a:t>
            </a:r>
            <a:endParaRPr lang="en-US" sz="110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667085"/>
                </a:solidFill>
                <a:latin typeface="Aptos"/>
              </a:rPr>
              <a:t>What comes after MVP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" name="eyebrow"/>
          <p:cNvSpPr txBox="1"/>
          <p:nvPr/>
        </p:nvSpPr>
        <p:spPr>
          <a:xfrm>
            <a:off x="533400" y="419100"/>
            <a:ext cx="400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100" b="1" dirty="0">
                <a:solidFill>
                  <a:srgbClr val="0E8F8F"/>
                </a:solidFill>
                <a:latin typeface="Aptos"/>
              </a:rPr>
              <a:t>EXECUTION PROOF</a:t>
            </a:r>
            <a:endParaRPr lang="en-US" sz="1100" dirty="0"/>
          </a:p>
        </p:txBody>
      </p:sp>
      <p:sp>
        <p:nvSpPr>
          <p:cNvPr id="11" name="title"/>
          <p:cNvSpPr txBox="1"/>
          <p:nvPr/>
        </p:nvSpPr>
        <p:spPr>
          <a:xfrm>
            <a:off x="533400" y="781050"/>
            <a:ext cx="8572500" cy="8953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2900" b="1" dirty="0">
                <a:solidFill>
                  <a:srgbClr val="10243F"/>
                </a:solidFill>
                <a:latin typeface="Aptos"/>
              </a:rPr>
              <a:t>The repository is built for the FinTech assignment deliverables.</a:t>
            </a:r>
            <a:endParaRPr lang="en-US" sz="2900" dirty="0"/>
          </a:p>
        </p:txBody>
      </p:sp>
      <p:sp>
        <p:nvSpPr>
          <p:cNvPr id="60" name="Working MVP card"/>
          <p:cNvSpPr/>
          <p:nvPr/>
        </p:nvSpPr>
        <p:spPr>
          <a:xfrm>
            <a:off x="723900" y="2362200"/>
            <a:ext cx="33337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61" name="Working MVP accent"/>
          <p:cNvSpPr/>
          <p:nvPr/>
        </p:nvSpPr>
        <p:spPr>
          <a:xfrm>
            <a:off x="723900" y="2362200"/>
            <a:ext cx="57150" cy="2095500"/>
          </a:xfrm>
          <a:prstGeom prst="rect">
            <a:avLst/>
          </a:prstGeom>
          <a:solidFill>
            <a:srgbClr val="0E8F8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62" name="Working MVP title"/>
          <p:cNvSpPr txBox="1"/>
          <p:nvPr/>
        </p:nvSpPr>
        <p:spPr>
          <a:xfrm>
            <a:off x="914400" y="2514600"/>
            <a:ext cx="300990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Working MVP</a:t>
            </a:r>
            <a:endParaRPr lang="en-US" sz="1700" dirty="0"/>
          </a:p>
        </p:txBody>
      </p:sp>
      <p:sp>
        <p:nvSpPr>
          <p:cNvPr id="63" name="Working MVP body"/>
          <p:cNvSpPr txBox="1"/>
          <p:nvPr/>
        </p:nvSpPr>
        <p:spPr>
          <a:xfrm>
            <a:off x="914400" y="2838450"/>
            <a:ext cx="3009900" cy="1504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The app demonstrates the full value loop: intake, evidence, scoring, AI package, review, publication, and monitoring.</a:t>
            </a:r>
            <a:endParaRPr lang="en-US" sz="1250" dirty="0"/>
          </a:p>
        </p:txBody>
      </p:sp>
      <p:sp>
        <p:nvSpPr>
          <p:cNvPr id="70" name="Clean repository card"/>
          <p:cNvSpPr/>
          <p:nvPr/>
        </p:nvSpPr>
        <p:spPr>
          <a:xfrm>
            <a:off x="4286250" y="2362200"/>
            <a:ext cx="33337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71" name="Clean repository accent"/>
          <p:cNvSpPr/>
          <p:nvPr/>
        </p:nvSpPr>
        <p:spPr>
          <a:xfrm>
            <a:off x="4286250" y="2362200"/>
            <a:ext cx="57150" cy="2095500"/>
          </a:xfrm>
          <a:prstGeom prst="rect">
            <a:avLst/>
          </a:prstGeom>
          <a:solidFill>
            <a:srgbClr val="285F9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72" name="Clean repository title"/>
          <p:cNvSpPr txBox="1"/>
          <p:nvPr/>
        </p:nvSpPr>
        <p:spPr>
          <a:xfrm>
            <a:off x="4476750" y="2514600"/>
            <a:ext cx="300990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Clean repository</a:t>
            </a:r>
            <a:endParaRPr lang="en-US" sz="1700" dirty="0"/>
          </a:p>
        </p:txBody>
      </p:sp>
      <p:sp>
        <p:nvSpPr>
          <p:cNvPr id="73" name="Clean repository body"/>
          <p:cNvSpPr txBox="1"/>
          <p:nvPr/>
        </p:nvSpPr>
        <p:spPr>
          <a:xfrm>
            <a:off x="4476750" y="2838450"/>
            <a:ext cx="3009900" cy="1504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README, demo script, requirements, Windows launcher, commented Python files, and research notes support handoff.</a:t>
            </a:r>
            <a:endParaRPr lang="en-US" sz="1250" dirty="0"/>
          </a:p>
        </p:txBody>
      </p:sp>
      <p:sp>
        <p:nvSpPr>
          <p:cNvPr id="80" name="Agent orchestration card"/>
          <p:cNvSpPr/>
          <p:nvPr/>
        </p:nvSpPr>
        <p:spPr>
          <a:xfrm>
            <a:off x="7848600" y="2362200"/>
            <a:ext cx="3333750" cy="209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/>
          <a:lstStyle/>
          <a:p>
            <a:endParaRPr lang="en-NL"/>
          </a:p>
        </p:txBody>
      </p:sp>
      <p:sp>
        <p:nvSpPr>
          <p:cNvPr id="81" name="Agent orchestration accent"/>
          <p:cNvSpPr/>
          <p:nvPr/>
        </p:nvSpPr>
        <p:spPr>
          <a:xfrm>
            <a:off x="7848600" y="2362200"/>
            <a:ext cx="57150" cy="2095500"/>
          </a:xfrm>
          <a:prstGeom prst="rect">
            <a:avLst/>
          </a:prstGeom>
          <a:solidFill>
            <a:srgbClr val="B7761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82" name="Agent orchestration title"/>
          <p:cNvSpPr txBox="1"/>
          <p:nvPr/>
        </p:nvSpPr>
        <p:spPr>
          <a:xfrm>
            <a:off x="8039100" y="2514600"/>
            <a:ext cx="3009900" cy="2667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b="1" dirty="0">
                <a:solidFill>
                  <a:srgbClr val="10243F"/>
                </a:solidFill>
                <a:latin typeface="Aptos"/>
              </a:rPr>
              <a:t>Agent orchestration</a:t>
            </a:r>
            <a:endParaRPr lang="en-US" sz="1700" dirty="0"/>
          </a:p>
        </p:txBody>
      </p:sp>
      <p:sp>
        <p:nvSpPr>
          <p:cNvPr id="83" name="Agent orchestration body"/>
          <p:cNvSpPr txBox="1"/>
          <p:nvPr/>
        </p:nvSpPr>
        <p:spPr>
          <a:xfrm>
            <a:off x="8039100" y="2838450"/>
            <a:ext cx="3009900" cy="15049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50" dirty="0">
                <a:solidFill>
                  <a:srgbClr val="667085"/>
                </a:solidFill>
                <a:latin typeface="Aptos"/>
              </a:rPr>
              <a:t>.codex/CODEX.md documents page structure, workflows, acceptance checks, and agent guidance for repo-aware changes.</a:t>
            </a:r>
            <a:endParaRPr lang="en-US" sz="125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667085"/>
                </a:solidFill>
                <a:latin typeface="Aptos"/>
              </a:rPr>
              <a:t>Assignment readiness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3" name="closing band"/>
          <p:cNvSpPr/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10243F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10" name="eyebrow"/>
          <p:cNvSpPr txBox="1"/>
          <p:nvPr/>
        </p:nvSpPr>
        <p:spPr>
          <a:xfrm>
            <a:off x="4762500" y="139065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200" b="1" dirty="0">
                <a:solidFill>
                  <a:srgbClr val="0E8F8F"/>
                </a:solidFill>
                <a:latin typeface="Aptos"/>
              </a:rPr>
              <a:t>NOW THE DEMO</a:t>
            </a:r>
            <a:endParaRPr lang="en-US" sz="1200" dirty="0"/>
          </a:p>
        </p:txBody>
      </p:sp>
      <p:sp>
        <p:nvSpPr>
          <p:cNvPr id="11" name="title"/>
          <p:cNvSpPr txBox="1"/>
          <p:nvPr/>
        </p:nvSpPr>
        <p:spPr>
          <a:xfrm>
            <a:off x="4762500" y="1857375"/>
            <a:ext cx="6286500" cy="17145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3700" b="1" dirty="0">
                <a:solidFill>
                  <a:srgbClr val="10243F"/>
                </a:solidFill>
                <a:latin typeface="Aptos"/>
              </a:rPr>
              <a:t>CredRisk.AI turns SME lending from a file chase into an explainable decision workflow.</a:t>
            </a:r>
            <a:endParaRPr lang="en-US" sz="3700" dirty="0"/>
          </a:p>
        </p:txBody>
      </p:sp>
      <p:sp>
        <p:nvSpPr>
          <p:cNvPr id="12" name="subtitle"/>
          <p:cNvSpPr txBox="1"/>
          <p:nvPr/>
        </p:nvSpPr>
        <p:spPr>
          <a:xfrm>
            <a:off x="4762500" y="4288311"/>
            <a:ext cx="6191250" cy="7620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700" dirty="0">
                <a:solidFill>
                  <a:srgbClr val="667085"/>
                </a:solidFill>
                <a:latin typeface="Aptos"/>
              </a:rPr>
              <a:t>The live walkthrough shows Loan Intake Portal, frozen lender review, Random Forest scoring, AI Output, human publication, and the SME-facing result.</a:t>
            </a:r>
            <a:endParaRPr lang="en-US" sz="1700" dirty="0"/>
          </a:p>
        </p:txBody>
      </p:sp>
      <p:sp>
        <p:nvSpPr>
          <p:cNvPr id="13" name="brand mark"/>
          <p:cNvSpPr txBox="1"/>
          <p:nvPr/>
        </p:nvSpPr>
        <p:spPr>
          <a:xfrm>
            <a:off x="685800" y="2238375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3400" b="1" dirty="0">
                <a:solidFill>
                  <a:srgbClr val="FFFFFF"/>
                </a:solidFill>
                <a:latin typeface="Aptos"/>
              </a:rPr>
              <a:t>CredRisk.AI</a:t>
            </a:r>
            <a:endParaRPr lang="en-US" sz="3400" dirty="0"/>
          </a:p>
        </p:txBody>
      </p:sp>
      <p:sp>
        <p:nvSpPr>
          <p:cNvPr id="14" name="brand copy"/>
          <p:cNvSpPr txBox="1"/>
          <p:nvPr/>
        </p:nvSpPr>
        <p:spPr>
          <a:xfrm>
            <a:off x="714375" y="3105150"/>
            <a:ext cx="2571750" cy="6667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600" dirty="0">
                <a:solidFill>
                  <a:srgbClr val="FFFFFF"/>
                </a:solidFill>
                <a:latin typeface="Aptos"/>
              </a:rPr>
              <a:t>Loan Intake Portal</a:t>
            </a:r>
            <a:endParaRPr lang="en-US" sz="1600" dirty="0"/>
          </a:p>
          <a:p>
            <a:r>
              <a:rPr lang="en-US" sz="1600" dirty="0">
                <a:solidFill>
                  <a:srgbClr val="FFFFFF"/>
                </a:solidFill>
                <a:latin typeface="Aptos"/>
              </a:rPr>
              <a:t>Underwriter Workbench</a:t>
            </a:r>
            <a:endParaRPr lang="en-US" sz="1600" dirty="0"/>
          </a:p>
        </p:txBody>
      </p:sp>
      <p:sp>
        <p:nvSpPr>
          <p:cNvPr id="900" name="footer line"/>
          <p:cNvSpPr/>
          <p:nvPr/>
        </p:nvSpPr>
        <p:spPr>
          <a:xfrm>
            <a:off x="533400" y="6191250"/>
            <a:ext cx="11125200" cy="11430"/>
          </a:xfrm>
          <a:prstGeom prst="rect">
            <a:avLst/>
          </a:prstGeom>
          <a:solidFill>
            <a:srgbClr val="D9E2EE"/>
          </a:solidFill>
          <a:ln>
            <a:noFill/>
          </a:ln>
        </p:spPr>
        <p:txBody>
          <a:bodyPr/>
          <a:lstStyle/>
          <a:p>
            <a:endParaRPr lang="en-NL"/>
          </a:p>
        </p:txBody>
      </p:sp>
      <p:sp>
        <p:nvSpPr>
          <p:cNvPr id="901" name="footer left"/>
          <p:cNvSpPr txBox="1"/>
          <p:nvPr/>
        </p:nvSpPr>
        <p:spPr>
          <a:xfrm>
            <a:off x="533400" y="6305550"/>
            <a:ext cx="571500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r>
              <a:rPr lang="en-US" sz="1050" dirty="0">
                <a:solidFill>
                  <a:srgbClr val="667085"/>
                </a:solidFill>
                <a:latin typeface="Aptos"/>
              </a:rPr>
              <a:t>CredRisk.AI Underwriter Workbench</a:t>
            </a:r>
            <a:endParaRPr lang="en-US" sz="1050" dirty="0"/>
          </a:p>
        </p:txBody>
      </p:sp>
      <p:sp>
        <p:nvSpPr>
          <p:cNvPr id="902" name="footer number"/>
          <p:cNvSpPr txBox="1"/>
          <p:nvPr/>
        </p:nvSpPr>
        <p:spPr>
          <a:xfrm>
            <a:off x="11144250" y="6305550"/>
            <a:ext cx="514350" cy="209550"/>
          </a:xfrm>
          <a:prstGeom prst="rect">
            <a:avLst/>
          </a:prstGeom>
          <a:noFill/>
          <a:ln>
            <a:noFill/>
          </a:ln>
        </p:spPr>
        <p:txBody>
          <a:bodyPr wrap="square" lIns="57150" tIns="57150" rIns="57150" bIns="57150" anchor="t"/>
          <a:lstStyle/>
          <a:p>
            <a:pPr algn="r"/>
            <a:r>
              <a:rPr lang="en-US" sz="1050" dirty="0">
                <a:solidFill>
                  <a:srgbClr val="667085"/>
                </a:solidFill>
                <a:latin typeface="Aptos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980</Words>
  <Application>Microsoft Macintosh PowerPoint</Application>
  <PresentationFormat>Widescreen</PresentationFormat>
  <Paragraphs>148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CredRisk.AI Pitch Deck</dc:title>
  <dc:creator>CredRisk.AI</dc:creator>
  <cp:lastModifiedBy>Joost Gaasbeek</cp:lastModifiedBy>
  <cp:revision>3</cp:revision>
  <dcterms:created xsi:type="dcterms:W3CDTF">2026-06-15T19:29:53Z</dcterms:created>
  <dcterms:modified xsi:type="dcterms:W3CDTF">2026-06-25T15:58:38Z</dcterms:modified>
</cp:coreProperties>
</file>